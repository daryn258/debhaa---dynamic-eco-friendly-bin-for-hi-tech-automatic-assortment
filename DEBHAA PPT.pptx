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8" r:id="rId10"/>
    <p:sldId id="270" r:id="rId11"/>
    <p:sldId id="265" r:id="rId12"/>
    <p:sldId id="271" r:id="rId13"/>
    <p:sldId id="272" r:id="rId14"/>
    <p:sldId id="263" r:id="rId15"/>
    <p:sldId id="264" r:id="rId16"/>
  </p:sldIdLst>
  <p:sldSz cx="18288000" cy="10287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Playfair Display" panose="00000500000000000000" pitchFamily="2" charset="0"/>
      <p:regular r:id="rId22"/>
      <p:bold r:id="rId23"/>
      <p:italic r:id="rId24"/>
      <p:boldItalic r:id="rId25"/>
    </p:embeddedFont>
    <p:embeddedFont>
      <p:font typeface="Playfair Display Italics" panose="020B0604020202020204" charset="0"/>
      <p:regular r:id="rId26"/>
    </p:embeddedFont>
    <p:embeddedFont>
      <p:font typeface="Public Sans" panose="020B0604020202020204" charset="0"/>
      <p:regular r:id="rId27"/>
    </p:embeddedFont>
    <p:embeddedFont>
      <p:font typeface="Public Sans Bold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51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96E1C7-424E-4DB7-A132-39C4D0403B9B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67AED3-A146-4959-B112-AB9BD4A9A6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863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67AED3-A146-4959-B112-AB9BD4A9A6F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706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29B0E-F1DD-3765-9531-D6537D3B6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488FB7-44DD-DE3B-162D-1CBD36A3C8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F16E36-634D-2C10-CBD6-A26BFF79E7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CA3626-9F06-7DFC-76E2-35ECC9C0F7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67AED3-A146-4959-B112-AB9BD4A9A6F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247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roWY29RNFU0&amp;t=3s" TargetMode="External"/><Relationship Id="rId2" Type="http://schemas.openxmlformats.org/officeDocument/2006/relationships/hyperlink" Target="https://www.academia.edu/91551421/Waste_Sorting_Dustbin_with_Arduino_based_Smart_Motor_Rotating_Tray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117564" y="6036723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095740" y="6250750"/>
            <a:ext cx="16230600" cy="648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00"/>
              </a:lnSpc>
              <a:spcBef>
                <a:spcPct val="0"/>
              </a:spcBef>
            </a:pPr>
            <a:r>
              <a:rPr lang="en-US" sz="3714" spc="24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Dynamic Eco-Friendly Bin for Hi-Tech Automatic Assortment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39831" y="3854374"/>
            <a:ext cx="16408332" cy="1962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250"/>
              </a:lnSpc>
            </a:pPr>
            <a:r>
              <a:rPr lang="en-US" sz="16758" spc="83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 E B H A 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E0F265-2DEE-41F1-8A50-9C8FE68520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647700"/>
            <a:ext cx="2564296" cy="256429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1267" y="2016521"/>
            <a:ext cx="17525466" cy="6187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05"/>
              </a:lnSpc>
            </a:pPr>
            <a:r>
              <a:rPr lang="en-US" sz="6312" spc="31" dirty="0" err="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Parth</a:t>
            </a:r>
            <a:r>
              <a:rPr lang="en-US" sz="6312" spc="31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sz="6312" spc="31" dirty="0" err="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Kambli</a:t>
            </a:r>
            <a:r>
              <a:rPr lang="en-US" sz="6312" spc="31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- 2103079</a:t>
            </a:r>
          </a:p>
          <a:p>
            <a:pPr algn="ctr">
              <a:lnSpc>
                <a:spcPts val="8205"/>
              </a:lnSpc>
            </a:pPr>
            <a:r>
              <a:rPr lang="en-US" sz="6312" spc="31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Dhruv </a:t>
            </a:r>
            <a:r>
              <a:rPr lang="en-US" sz="6312" spc="31" dirty="0" err="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Kheni</a:t>
            </a:r>
            <a:r>
              <a:rPr lang="en-US" sz="6312" spc="31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- 2103090</a:t>
            </a:r>
          </a:p>
          <a:p>
            <a:pPr algn="ctr">
              <a:lnSpc>
                <a:spcPts val="8205"/>
              </a:lnSpc>
            </a:pPr>
            <a:r>
              <a:rPr lang="en-US" sz="6312" spc="31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Ishaan </a:t>
            </a:r>
            <a:r>
              <a:rPr lang="en-US" sz="6312" spc="31" dirty="0" err="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Mavinkurve</a:t>
            </a:r>
            <a:r>
              <a:rPr lang="en-US" sz="6312" spc="31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- 2103116</a:t>
            </a:r>
          </a:p>
          <a:p>
            <a:pPr algn="ctr">
              <a:lnSpc>
                <a:spcPts val="8205"/>
              </a:lnSpc>
            </a:pPr>
            <a:r>
              <a:rPr lang="en-US" sz="6312" spc="31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Daryn Monteiro - 2103119</a:t>
            </a:r>
          </a:p>
          <a:p>
            <a:pPr algn="ctr">
              <a:lnSpc>
                <a:spcPts val="8205"/>
              </a:lnSpc>
            </a:pPr>
            <a:endParaRPr lang="en-US" sz="6312" spc="31" dirty="0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algn="ctr">
              <a:lnSpc>
                <a:spcPts val="8205"/>
              </a:lnSpc>
            </a:pPr>
            <a:r>
              <a:rPr lang="en-US" sz="6312" spc="31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Supervisor: Prof. Sakshi </a:t>
            </a:r>
            <a:r>
              <a:rPr lang="en-US" sz="6312" spc="31" dirty="0" err="1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Surve</a:t>
            </a:r>
            <a:endParaRPr lang="en-US" sz="6312" spc="31" dirty="0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4579" y="2239089"/>
            <a:ext cx="16242893" cy="7419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82431" lvl="1" indent="-491216" algn="l">
              <a:lnSpc>
                <a:spcPts val="5915"/>
              </a:lnSpc>
              <a:buFont typeface="Arial"/>
              <a:buChar char="•"/>
            </a:pPr>
            <a:r>
              <a:rPr lang="en-US" sz="4550" spc="22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Current waste management systems struggle with inefficient and error-prone manual sorting processes. </a:t>
            </a:r>
          </a:p>
          <a:p>
            <a:pPr algn="l">
              <a:lnSpc>
                <a:spcPts val="5915"/>
              </a:lnSpc>
            </a:pPr>
            <a:endParaRPr lang="en-US" sz="4550" spc="22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982431" lvl="1" indent="-491216" algn="l">
              <a:lnSpc>
                <a:spcPts val="5915"/>
              </a:lnSpc>
              <a:buFont typeface="Arial"/>
              <a:buChar char="•"/>
            </a:pPr>
            <a:r>
              <a:rPr lang="en-US" sz="4550" spc="22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This results in increased environmental pollution and resource wastage. </a:t>
            </a:r>
          </a:p>
          <a:p>
            <a:pPr algn="l">
              <a:lnSpc>
                <a:spcPts val="5915"/>
              </a:lnSpc>
            </a:pPr>
            <a:endParaRPr lang="en-US" sz="4550" spc="22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982431" lvl="1" indent="-491216" algn="l">
              <a:lnSpc>
                <a:spcPts val="5915"/>
              </a:lnSpc>
              <a:buFont typeface="Arial"/>
              <a:buChar char="•"/>
            </a:pPr>
            <a:r>
              <a:rPr lang="en-US" sz="4550" spc="22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There is a need for a smart dustbin that can automatically segregate waste based on its type to enhance recycling efficiency and reduce environmental impact.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PROBLEM STATEMENT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4579" y="2229564"/>
            <a:ext cx="16242893" cy="6525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9961" lvl="1" indent="-474980" algn="l">
              <a:lnSpc>
                <a:spcPts val="5720"/>
              </a:lnSpc>
              <a:buFont typeface="Arial"/>
              <a:buChar char="•"/>
            </a:pPr>
            <a:r>
              <a:rPr lang="en-US" sz="4400" spc="22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There has always been a concern about the growing environmental impact of improper waste management</a:t>
            </a:r>
          </a:p>
          <a:p>
            <a:pPr algn="l">
              <a:lnSpc>
                <a:spcPts val="5720"/>
              </a:lnSpc>
            </a:pPr>
            <a:endParaRPr lang="en-US" sz="4400" spc="22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949961" lvl="1" indent="-474980" algn="l">
              <a:lnSpc>
                <a:spcPts val="5720"/>
              </a:lnSpc>
              <a:buFont typeface="Arial"/>
              <a:buChar char="•"/>
            </a:pPr>
            <a:r>
              <a:rPr lang="en-US" sz="4400" spc="22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Observing the inefficiencies and manual errors in current systems has motivated us to develop a smart dustbin. </a:t>
            </a:r>
          </a:p>
          <a:p>
            <a:pPr algn="l">
              <a:lnSpc>
                <a:spcPts val="5720"/>
              </a:lnSpc>
            </a:pPr>
            <a:endParaRPr lang="en-US" sz="4400" spc="22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949961" lvl="1" indent="-474980" algn="l">
              <a:lnSpc>
                <a:spcPts val="5720"/>
              </a:lnSpc>
              <a:buFont typeface="Arial"/>
              <a:buChar char="•"/>
            </a:pPr>
            <a:r>
              <a:rPr lang="en-US" sz="4400" spc="22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By leveraging IoT, we aim to create a solution that automatically sorts waste, enhances recycling efficiency and promotes a cleaner, more sustainable environment.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MOTIVATION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APPLICATIONS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897526" y="1755634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7600947" y="4787823"/>
            <a:ext cx="3086100" cy="1193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Businesses and offices seeking efficient waste management solutions.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20000" y="3197148"/>
            <a:ext cx="2785647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Commercial Establishments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97524" y="4787823"/>
            <a:ext cx="2954924" cy="1993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Homeowners who want to simplify waste segregation and enhance recycling efforts.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66800" y="3197148"/>
            <a:ext cx="2785647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Residential Households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93174" y="4825923"/>
            <a:ext cx="3086100" cy="1993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City and local government agencies responsible for waste collection and processing.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43400" y="3197148"/>
            <a:ext cx="2785647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Waste Management Authorities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896600" y="4737023"/>
            <a:ext cx="3086100" cy="1993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Schools and universities aiming to promote recycling and environmental awareness among students.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96600" y="3197148"/>
            <a:ext cx="2785647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Educational Institutions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306550" y="4737023"/>
            <a:ext cx="3086100" cy="2393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0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Parks, malls, and other public areas where efficient waste segregation can improve cleanliness and sustainability.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173200" y="3197148"/>
            <a:ext cx="2144134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Public Spaces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4343400" y="2756663"/>
            <a:ext cx="138677" cy="13867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2C3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28700" y="2756663"/>
            <a:ext cx="138677" cy="138677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2C30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20000" y="2756663"/>
            <a:ext cx="138677" cy="138677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2C30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896600" y="2756663"/>
            <a:ext cx="138677" cy="138677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2C30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4173200" y="2756663"/>
            <a:ext cx="138677" cy="138677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2C30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  <p:sp>
        <p:nvSpPr>
          <p:cNvPr id="29" name="AutoShape 29"/>
          <p:cNvSpPr/>
          <p:nvPr/>
        </p:nvSpPr>
        <p:spPr>
          <a:xfrm flipV="1">
            <a:off x="1127761" y="2782730"/>
            <a:ext cx="16000360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6871" y="1492844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INPUTS AND OUTPUTS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1028695" y="2310630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006871" y="3745350"/>
            <a:ext cx="7877184" cy="3179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Inputs: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Waste items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Sensors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User interaction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Power supply</a:t>
            </a:r>
          </a:p>
          <a:p>
            <a:pPr algn="l">
              <a:lnSpc>
                <a:spcPts val="4199"/>
              </a:lnSpc>
            </a:pPr>
            <a:endParaRPr lang="en-US" sz="2799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360287" y="3539490"/>
            <a:ext cx="7877184" cy="2102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Outputs: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Sorted waste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Data reports</a:t>
            </a:r>
          </a:p>
          <a:p>
            <a:pPr algn="l">
              <a:lnSpc>
                <a:spcPts val="4199"/>
              </a:lnSpc>
            </a:pPr>
            <a:endParaRPr lang="en-US" sz="2799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3394768" y="1965957"/>
            <a:ext cx="10981633" cy="8128498"/>
          </a:xfrm>
          <a:custGeom>
            <a:avLst/>
            <a:gdLst/>
            <a:ahLst/>
            <a:cxnLst/>
            <a:rect l="l" t="t" r="r" b="b"/>
            <a:pathLst>
              <a:path w="11034123" h="8456173">
                <a:moveTo>
                  <a:pt x="0" y="0"/>
                </a:moveTo>
                <a:lnTo>
                  <a:pt x="11034122" y="0"/>
                </a:lnTo>
                <a:lnTo>
                  <a:pt x="11034122" y="8456173"/>
                </a:lnTo>
                <a:lnTo>
                  <a:pt x="0" y="84561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TextBox 4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BLOCK DIAGRAM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04506" y="5181628"/>
            <a:ext cx="794461" cy="276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  <a:spcBef>
                <a:spcPct val="0"/>
              </a:spcBef>
            </a:pPr>
            <a:r>
              <a:rPr lang="en-US" sz="15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Wet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250117" y="5181628"/>
            <a:ext cx="635468" cy="2653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  <a:spcBef>
                <a:spcPct val="0"/>
              </a:spcBef>
            </a:pPr>
            <a:r>
              <a:rPr lang="en-US" sz="15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Dry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50117" y="6708719"/>
            <a:ext cx="635468" cy="2653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  <a:spcBef>
                <a:spcPct val="0"/>
              </a:spcBef>
            </a:pPr>
            <a:r>
              <a:rPr lang="en-US" sz="15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Metal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57071" y="6708719"/>
            <a:ext cx="949424" cy="276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  <a:spcBef>
                <a:spcPct val="0"/>
              </a:spcBef>
            </a:pPr>
            <a:r>
              <a:rPr lang="en-US" sz="15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Non-Metal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2416C3-22FB-F587-879B-3B8A6FB42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795F477-71FE-22F3-53E0-78A098157796}"/>
              </a:ext>
            </a:extLst>
          </p:cNvPr>
          <p:cNvSpPr txBox="1"/>
          <p:nvPr/>
        </p:nvSpPr>
        <p:spPr>
          <a:xfrm>
            <a:off x="1006871" y="1492844"/>
            <a:ext cx="16230600" cy="60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COMPONENTS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C58FD40-A227-1609-1680-3BC0AE161CB9}"/>
              </a:ext>
            </a:extLst>
          </p:cNvPr>
          <p:cNvSpPr/>
          <p:nvPr/>
        </p:nvSpPr>
        <p:spPr>
          <a:xfrm flipV="1">
            <a:off x="1028695" y="2310630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4B88D2-99BC-4B36-9740-32ACCD2A4F91}"/>
              </a:ext>
            </a:extLst>
          </p:cNvPr>
          <p:cNvSpPr txBox="1"/>
          <p:nvPr/>
        </p:nvSpPr>
        <p:spPr>
          <a:xfrm>
            <a:off x="1039611" y="2761546"/>
            <a:ext cx="16208777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Public Sans" panose="020B0604020202020204" charset="0"/>
              </a:rPr>
              <a:t>ESP32 Microcontroller</a:t>
            </a:r>
          </a:p>
          <a:p>
            <a:r>
              <a:rPr lang="en-GB" sz="2800" dirty="0">
                <a:latin typeface="Public Sans" panose="020B0604020202020204" charset="0"/>
              </a:rPr>
              <a:t>Acts as the brain of the system, processing sensor inputs . </a:t>
            </a:r>
          </a:p>
          <a:p>
            <a:r>
              <a:rPr lang="en-GB" sz="2800" dirty="0">
                <a:latin typeface="Public Sans" panose="020B0604020202020204" charset="0"/>
              </a:rPr>
              <a:t>Controls the servo motor to direct waste into the correct bin. </a:t>
            </a:r>
          </a:p>
          <a:p>
            <a:r>
              <a:rPr lang="en-GB" sz="2800" dirty="0">
                <a:latin typeface="Public Sans" panose="020B0604020202020204" charset="0"/>
              </a:rPr>
              <a:t>Provides wireless connectivity for future scalability.</a:t>
            </a:r>
          </a:p>
          <a:p>
            <a:endParaRPr lang="en-GB" sz="2800" b="1" dirty="0">
              <a:latin typeface="Public Sans" panose="020B0604020202020204" charset="0"/>
            </a:endParaRPr>
          </a:p>
          <a:p>
            <a:r>
              <a:rPr lang="en-GB" sz="2800" b="1" dirty="0">
                <a:latin typeface="Public Sans" panose="020B0604020202020204" charset="0"/>
              </a:rPr>
              <a:t>IR Sensor</a:t>
            </a:r>
          </a:p>
          <a:p>
            <a:r>
              <a:rPr lang="en-GB" sz="2800" dirty="0">
                <a:latin typeface="Public Sans" panose="020B0604020202020204" charset="0"/>
              </a:rPr>
              <a:t>Detects the presence of incoming waste. </a:t>
            </a:r>
          </a:p>
          <a:p>
            <a:r>
              <a:rPr lang="en-GB" sz="2800" dirty="0">
                <a:latin typeface="Public Sans" panose="020B0604020202020204" charset="0"/>
              </a:rPr>
              <a:t>Sends a signal to trigger waste classification.</a:t>
            </a:r>
          </a:p>
          <a:p>
            <a:br>
              <a:rPr lang="en-GB" sz="2800" b="1" dirty="0">
                <a:latin typeface="Public Sans" panose="020B0604020202020204" charset="0"/>
              </a:rPr>
            </a:br>
            <a:r>
              <a:rPr lang="en-GB" sz="2800" b="1" dirty="0">
                <a:latin typeface="Public Sans" panose="020B0604020202020204" charset="0"/>
              </a:rPr>
              <a:t>Inductive Proximity Sensor</a:t>
            </a:r>
          </a:p>
          <a:p>
            <a:r>
              <a:rPr lang="en-GB" sz="2800" dirty="0">
                <a:latin typeface="Public Sans" panose="020B0604020202020204" charset="0"/>
              </a:rPr>
              <a:t>Identifies metallic waste by detecting electromagnetic field disturbances. </a:t>
            </a:r>
          </a:p>
          <a:p>
            <a:r>
              <a:rPr lang="en-GB" sz="2800" dirty="0">
                <a:latin typeface="Public Sans" panose="020B0604020202020204" charset="0"/>
              </a:rPr>
              <a:t>Ensures metal objects are separated efficiently.</a:t>
            </a:r>
          </a:p>
          <a:p>
            <a:br>
              <a:rPr lang="en-GB" sz="2800" b="1" dirty="0">
                <a:latin typeface="Public Sans" panose="020B0604020202020204" charset="0"/>
              </a:rPr>
            </a:br>
            <a:endParaRPr lang="en-US" sz="2800" b="1" dirty="0">
              <a:latin typeface="Public Sans" panose="020B0604020202020204" charset="0"/>
            </a:endParaRPr>
          </a:p>
        </p:txBody>
      </p:sp>
      <p:pic>
        <p:nvPicPr>
          <p:cNvPr id="7" name="Picture 2" descr="ESP32 ESP-32S WiFi + Bluetooth Dual-Mode Developement Board - 1">
            <a:extLst>
              <a:ext uri="{FF2B5EF4-FFF2-40B4-BE49-F238E27FC236}">
                <a16:creationId xmlns:a16="http://schemas.microsoft.com/office/drawing/2014/main" id="{C2560745-38EC-43DE-912D-FDC1C98F51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8600" y="2595435"/>
            <a:ext cx="2238375" cy="223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IR sensor">
            <a:extLst>
              <a:ext uri="{FF2B5EF4-FFF2-40B4-BE49-F238E27FC236}">
                <a16:creationId xmlns:a16="http://schemas.microsoft.com/office/drawing/2014/main" id="{5048A90E-632A-43CB-BDB9-E14BCFCD41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2232" y="483381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csm product imt8 s nb2 psl m3m 47724785eb">
            <a:extLst>
              <a:ext uri="{FF2B5EF4-FFF2-40B4-BE49-F238E27FC236}">
                <a16:creationId xmlns:a16="http://schemas.microsoft.com/office/drawing/2014/main" id="{9FE1F7E8-A968-429C-A6A2-93271F76F3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61309" y="6788584"/>
            <a:ext cx="2674095" cy="2005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1961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2416C3-22FB-F587-879B-3B8A6FB42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795F477-71FE-22F3-53E0-78A098157796}"/>
              </a:ext>
            </a:extLst>
          </p:cNvPr>
          <p:cNvSpPr txBox="1"/>
          <p:nvPr/>
        </p:nvSpPr>
        <p:spPr>
          <a:xfrm>
            <a:off x="1006871" y="1492844"/>
            <a:ext cx="16230600" cy="60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COMPONENTS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C58FD40-A227-1609-1680-3BC0AE161CB9}"/>
              </a:ext>
            </a:extLst>
          </p:cNvPr>
          <p:cNvSpPr/>
          <p:nvPr/>
        </p:nvSpPr>
        <p:spPr>
          <a:xfrm flipV="1">
            <a:off x="1028695" y="2310630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4B88D2-99BC-4B36-9740-32ACCD2A4F91}"/>
              </a:ext>
            </a:extLst>
          </p:cNvPr>
          <p:cNvSpPr txBox="1"/>
          <p:nvPr/>
        </p:nvSpPr>
        <p:spPr>
          <a:xfrm>
            <a:off x="1050512" y="2781300"/>
            <a:ext cx="1620877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Public Sans" panose="020B0604020202020204" charset="0"/>
              </a:rPr>
              <a:t>Servo Motor  </a:t>
            </a:r>
          </a:p>
          <a:p>
            <a:r>
              <a:rPr lang="en-GB" sz="2800" dirty="0">
                <a:latin typeface="Public Sans" panose="020B0604020202020204" charset="0"/>
              </a:rPr>
              <a:t>Controls the movement of the waste segregation mechanism. </a:t>
            </a:r>
          </a:p>
          <a:p>
            <a:r>
              <a:rPr lang="en-GB" sz="2800" dirty="0">
                <a:latin typeface="Public Sans" panose="020B0604020202020204" charset="0"/>
              </a:rPr>
              <a:t>Rotates to direct waste into the appropriate bin based on sensor input. </a:t>
            </a:r>
          </a:p>
          <a:p>
            <a:endParaRPr lang="en-GB" sz="2800" b="1" dirty="0">
              <a:latin typeface="Public Sans" panose="020B0604020202020204" charset="0"/>
            </a:endParaRPr>
          </a:p>
          <a:p>
            <a:r>
              <a:rPr lang="en-US" sz="2800" b="1" dirty="0">
                <a:latin typeface="Public Sans" panose="020B0604020202020204" charset="0"/>
              </a:rPr>
              <a:t>Raindrop Sensor </a:t>
            </a:r>
          </a:p>
          <a:p>
            <a:r>
              <a:rPr lang="en-GB" sz="2800" dirty="0">
                <a:latin typeface="Public Sans" panose="020B0604020202020204" charset="0"/>
              </a:rPr>
              <a:t>Detects moisture levels in waste. </a:t>
            </a:r>
          </a:p>
          <a:p>
            <a:r>
              <a:rPr lang="en-GB" sz="2800" dirty="0">
                <a:latin typeface="Public Sans" panose="020B0604020202020204" charset="0"/>
              </a:rPr>
              <a:t>Helps differentiate between wet and dry waste for proper disposal.</a:t>
            </a:r>
          </a:p>
          <a:p>
            <a:endParaRPr lang="en-GB" sz="2800" dirty="0">
              <a:latin typeface="Public Sans" panose="020B0604020202020204" charset="0"/>
            </a:endParaRPr>
          </a:p>
          <a:p>
            <a:r>
              <a:rPr lang="en-GB" sz="2800" b="1" dirty="0">
                <a:latin typeface="Public Sans" panose="020B0604020202020204" charset="0"/>
              </a:rPr>
              <a:t>OLED Display</a:t>
            </a:r>
          </a:p>
          <a:p>
            <a:r>
              <a:rPr lang="en-GB" sz="2800" dirty="0">
                <a:latin typeface="Public Sans" panose="020B0604020202020204" charset="0"/>
              </a:rPr>
              <a:t>Displays real-time waste classification results (Wet, Dry, or Metallic).</a:t>
            </a:r>
          </a:p>
          <a:p>
            <a:r>
              <a:rPr lang="en-GB" sz="2800" dirty="0">
                <a:latin typeface="Public Sans" panose="020B0604020202020204" charset="0"/>
              </a:rPr>
              <a:t>Provides an interface for system status updates. </a:t>
            </a:r>
            <a:endParaRPr lang="en-US" sz="2800" dirty="0">
              <a:latin typeface="Public Sans" panose="020B0604020202020204" charset="0"/>
            </a:endParaRPr>
          </a:p>
        </p:txBody>
      </p:sp>
      <p:pic>
        <p:nvPicPr>
          <p:cNvPr id="5" name="Picture 6" descr="This is the picture of Servo Motor">
            <a:extLst>
              <a:ext uri="{FF2B5EF4-FFF2-40B4-BE49-F238E27FC236}">
                <a16:creationId xmlns:a16="http://schemas.microsoft.com/office/drawing/2014/main" id="{67E650FD-C10F-4A59-9653-3C992BDD90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06400" y="2421617"/>
            <a:ext cx="2505333" cy="1865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Raindrops Sensor, 12V Rain Dectection Module Adjustable Rain Sensor Controller Relay for Weather Monitoring">
            <a:extLst>
              <a:ext uri="{FF2B5EF4-FFF2-40B4-BE49-F238E27FC236}">
                <a16:creationId xmlns:a16="http://schemas.microsoft.com/office/drawing/2014/main" id="{DFC40D8B-C5A2-4235-9F38-B7B606B09B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9652" y="4500308"/>
            <a:ext cx="1985834" cy="198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ESP32 ESP8266 Arduino OLED Display Pixel Dot">
            <a:extLst>
              <a:ext uri="{FF2B5EF4-FFF2-40B4-BE49-F238E27FC236}">
                <a16:creationId xmlns:a16="http://schemas.microsoft.com/office/drawing/2014/main" id="{EE796BD1-A8ED-4FCB-95CC-49DB67D76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7689592"/>
            <a:ext cx="2726928" cy="2290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0895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BDDB14-629C-CBC9-C3CE-97F07E887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BD3CF1C1-5AE6-D266-9407-63F9667EE907}"/>
              </a:ext>
            </a:extLst>
          </p:cNvPr>
          <p:cNvSpPr txBox="1"/>
          <p:nvPr/>
        </p:nvSpPr>
        <p:spPr>
          <a:xfrm>
            <a:off x="1006871" y="1492844"/>
            <a:ext cx="16230600" cy="60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ESP32 VS ARDUINO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D47B03C-7934-F455-3167-E25E16306975}"/>
              </a:ext>
            </a:extLst>
          </p:cNvPr>
          <p:cNvSpPr/>
          <p:nvPr/>
        </p:nvSpPr>
        <p:spPr>
          <a:xfrm flipV="1">
            <a:off x="1028695" y="2310630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3DA4202-2C57-57FF-23B5-3EBAA83003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361041"/>
              </p:ext>
            </p:extLst>
          </p:nvPr>
        </p:nvGraphicFramePr>
        <p:xfrm>
          <a:off x="2476500" y="2853813"/>
          <a:ext cx="13335000" cy="6751637"/>
        </p:xfrm>
        <a:graphic>
          <a:graphicData uri="http://schemas.openxmlformats.org/drawingml/2006/table">
            <a:tbl>
              <a:tblPr/>
              <a:tblGrid>
                <a:gridCol w="4445000">
                  <a:extLst>
                    <a:ext uri="{9D8B030D-6E8A-4147-A177-3AD203B41FA5}">
                      <a16:colId xmlns:a16="http://schemas.microsoft.com/office/drawing/2014/main" val="194360320"/>
                    </a:ext>
                  </a:extLst>
                </a:gridCol>
                <a:gridCol w="4445000">
                  <a:extLst>
                    <a:ext uri="{9D8B030D-6E8A-4147-A177-3AD203B41FA5}">
                      <a16:colId xmlns:a16="http://schemas.microsoft.com/office/drawing/2014/main" val="896149687"/>
                    </a:ext>
                  </a:extLst>
                </a:gridCol>
                <a:gridCol w="4445000">
                  <a:extLst>
                    <a:ext uri="{9D8B030D-6E8A-4147-A177-3AD203B41FA5}">
                      <a16:colId xmlns:a16="http://schemas.microsoft.com/office/drawing/2014/main" val="3652435060"/>
                    </a:ext>
                  </a:extLst>
                </a:gridCol>
              </a:tblGrid>
              <a:tr h="565150">
                <a:tc>
                  <a:txBody>
                    <a:bodyPr/>
                    <a:lstStyle/>
                    <a:p>
                      <a:r>
                        <a:rPr lang="en-IN" sz="2400" dirty="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ESP32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Arduino (Uno, Nano, etc.)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6155601"/>
                  </a:ext>
                </a:extLst>
              </a:tr>
              <a:tr h="958850">
                <a:tc>
                  <a:txBody>
                    <a:bodyPr/>
                    <a:lstStyle/>
                    <a:p>
                      <a:r>
                        <a:rPr lang="en-IN" sz="2400" b="1" dirty="0"/>
                        <a:t>Processing Power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Faster Processing Power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Comparatively slower processing power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5257367"/>
                  </a:ext>
                </a:extLst>
              </a:tr>
              <a:tr h="1412875">
                <a:tc>
                  <a:txBody>
                    <a:bodyPr/>
                    <a:lstStyle/>
                    <a:p>
                      <a:r>
                        <a:rPr lang="en-IN" sz="2400" b="1"/>
                        <a:t>Wireless Connectivity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Built-in Wi-Fi and Bluetooth (BLE + Classic) (enables Blynk connectivity)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No built-in Wi-Fi or Bluetooth (external modules needed)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525034"/>
                  </a:ext>
                </a:extLst>
              </a:tr>
              <a:tr h="989012">
                <a:tc>
                  <a:txBody>
                    <a:bodyPr/>
                    <a:lstStyle/>
                    <a:p>
                      <a:r>
                        <a:rPr lang="en-IN" sz="2400" b="1"/>
                        <a:t>Memory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~520 KB SRAM + external flash 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2 KB SRAM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707128"/>
                  </a:ext>
                </a:extLst>
              </a:tr>
              <a:tr h="1412875">
                <a:tc>
                  <a:txBody>
                    <a:bodyPr/>
                    <a:lstStyle/>
                    <a:p>
                      <a:r>
                        <a:rPr lang="en-IN" sz="2400" b="1" dirty="0"/>
                        <a:t>Number of GPIOs &amp; Features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~36 GPIOs, capacitive touch, ADC, DAC, SPI, I2C, CAN, Ethernet MAC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~14 GPIOs, ADC, SPI, I2C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467173"/>
                  </a:ext>
                </a:extLst>
              </a:tr>
              <a:tr h="1412875">
                <a:tc>
                  <a:txBody>
                    <a:bodyPr/>
                    <a:lstStyle/>
                    <a:p>
                      <a:r>
                        <a:rPr lang="en-IN" sz="2400" b="1"/>
                        <a:t>Power Management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Advanced sleep modes for ultra-low power IoT applications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Basic sleep modes, higher overall power consumption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5526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2089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670278-3E68-A24C-4432-624CE0DAD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6838C2A7-BC9D-66FF-6A9B-51F4C3E2DFF6}"/>
              </a:ext>
            </a:extLst>
          </p:cNvPr>
          <p:cNvSpPr txBox="1"/>
          <p:nvPr/>
        </p:nvSpPr>
        <p:spPr>
          <a:xfrm>
            <a:off x="1006871" y="1492844"/>
            <a:ext cx="16230600" cy="60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PIN DIAGRAM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5300144-8621-7075-F549-3464A695BD30}"/>
              </a:ext>
            </a:extLst>
          </p:cNvPr>
          <p:cNvSpPr/>
          <p:nvPr/>
        </p:nvSpPr>
        <p:spPr>
          <a:xfrm flipV="1">
            <a:off x="1028695" y="2310630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F18411B-514F-90ED-1FE2-A0575272E2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3501" y="2536441"/>
            <a:ext cx="12937340" cy="767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447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0D4545-A659-C36B-780B-FA089277E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CACF4C5-5AD5-BB5B-A074-B69DBF3118B8}"/>
              </a:ext>
            </a:extLst>
          </p:cNvPr>
          <p:cNvSpPr txBox="1"/>
          <p:nvPr/>
        </p:nvSpPr>
        <p:spPr>
          <a:xfrm>
            <a:off x="1006871" y="1492844"/>
            <a:ext cx="16230600" cy="60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ADVANTAGES OF AUTOMATED SORTING 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A44B3F5-BF7E-44FF-5A8D-85FD022BDA4A}"/>
              </a:ext>
            </a:extLst>
          </p:cNvPr>
          <p:cNvSpPr/>
          <p:nvPr/>
        </p:nvSpPr>
        <p:spPr>
          <a:xfrm flipV="1">
            <a:off x="1028695" y="2310630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327CC91-EAAA-9F2D-F264-255E021B1B1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85800" y="3619500"/>
            <a:ext cx="16230595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Human Effort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Traditional sorting relies on people to manually separate waste, while an automated bin does the sorting with little to no user input.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Speed and Efficiency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Manual sorting is time-consuming and inconsistent, whereas automated bins can sort waste quickly and more efficiently.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Sorting accuracy depends on how well-informed or careful the person is; smart bins use sensors or programmed logic for more precise classification.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Hygiene and Safety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Traditional sorting exposes people to potentially hazardous waste, but automated bins reduce direct contact, improving hygiene and safety.</a:t>
            </a:r>
          </a:p>
        </p:txBody>
      </p:sp>
    </p:spTree>
    <p:extLst>
      <p:ext uri="{BB962C8B-B14F-4D97-AF65-F5344CB8AC3E}">
        <p14:creationId xmlns:p14="http://schemas.microsoft.com/office/powerpoint/2010/main" val="3926092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9C89BC-5778-AC58-E100-C4B37E048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7265BDD-984E-85C4-D5F8-39A25C233609}"/>
              </a:ext>
            </a:extLst>
          </p:cNvPr>
          <p:cNvSpPr txBox="1"/>
          <p:nvPr/>
        </p:nvSpPr>
        <p:spPr>
          <a:xfrm>
            <a:off x="1006871" y="1492844"/>
            <a:ext cx="16230600" cy="60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POTENTIAL DRAWBACKS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FDB8544-4637-A1DB-4A10-3166A52FF4A4}"/>
              </a:ext>
            </a:extLst>
          </p:cNvPr>
          <p:cNvSpPr/>
          <p:nvPr/>
        </p:nvSpPr>
        <p:spPr>
          <a:xfrm flipV="1">
            <a:off x="1028695" y="2310630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0D857D-6420-9FFA-1564-00533FAFF46B}"/>
              </a:ext>
            </a:extLst>
          </p:cNvPr>
          <p:cNvSpPr txBox="1"/>
          <p:nvPr/>
        </p:nvSpPr>
        <p:spPr>
          <a:xfrm>
            <a:off x="1006871" y="2503175"/>
            <a:ext cx="16252418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False Positives: </a:t>
            </a:r>
            <a:r>
              <a:rPr lang="en-US" sz="2800" dirty="0"/>
              <a:t>Some cases might lead to a false reading due to faulty sensors or potential drawbacks in hardware.</a:t>
            </a:r>
            <a:endParaRPr lang="en-US" sz="2800" b="1" dirty="0"/>
          </a:p>
          <a:p>
            <a:endParaRPr lang="en-US" sz="2800" b="1" dirty="0"/>
          </a:p>
          <a:p>
            <a:r>
              <a:rPr lang="en-US" sz="2800" b="1" dirty="0"/>
              <a:t>High Initial Cost</a:t>
            </a:r>
            <a:r>
              <a:rPr lang="en-US" sz="2800" dirty="0"/>
              <a:t>: Smart bins require investment in sensors, microcontrollers, and mechanical parts, making them more expensive upfront than traditional bins.</a:t>
            </a:r>
          </a:p>
          <a:p>
            <a:endParaRPr lang="en-US" sz="2800" dirty="0"/>
          </a:p>
          <a:p>
            <a:r>
              <a:rPr lang="en-US" sz="2800" b="1" dirty="0"/>
              <a:t>Maintenance Requirements</a:t>
            </a:r>
            <a:r>
              <a:rPr lang="en-US" sz="2800" dirty="0"/>
              <a:t>: Sensors, motors, and electronics can fail or need regular maintenance, which adds extra effort and cost.</a:t>
            </a:r>
          </a:p>
          <a:p>
            <a:endParaRPr lang="en-US" sz="2800" b="1" dirty="0"/>
          </a:p>
          <a:p>
            <a:r>
              <a:rPr lang="en-US" sz="2800" b="1" dirty="0"/>
              <a:t>Limited Sorting Capabilities</a:t>
            </a:r>
            <a:r>
              <a:rPr lang="en-US" sz="2800" dirty="0"/>
              <a:t>: Automated systems may struggle to correctly identify mixed materials, dirty waste, or unusual items outside of their trained categories.</a:t>
            </a:r>
          </a:p>
          <a:p>
            <a:endParaRPr lang="en-US" sz="2800" b="1" dirty="0"/>
          </a:p>
          <a:p>
            <a:r>
              <a:rPr lang="en-US" sz="2800" b="1" dirty="0"/>
              <a:t>Power Dependency</a:t>
            </a:r>
            <a:r>
              <a:rPr lang="en-US" sz="2800" dirty="0"/>
              <a:t>: These bins rely on electricity or batteries; if power fails, the automated features stop working.</a:t>
            </a:r>
          </a:p>
          <a:p>
            <a:endParaRPr lang="en-US" sz="2800" b="1" dirty="0"/>
          </a:p>
          <a:p>
            <a:r>
              <a:rPr lang="en-US" sz="2800" b="1" dirty="0"/>
              <a:t>Complexity in Design</a:t>
            </a:r>
            <a:r>
              <a:rPr lang="en-US" sz="2800" dirty="0"/>
              <a:t>: Designing a reliable, accurate sorting mechanism can be technically challenging and requires careful calibration.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13161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REFERENCES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028700" y="3173367"/>
            <a:ext cx="16252429" cy="4606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396" spc="167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[1]Waste Sorting Dustbin with Arduino based Smart Motor Rotating Tray, accessed on</a:t>
            </a:r>
          </a:p>
          <a:p>
            <a:pPr algn="l">
              <a:lnSpc>
                <a:spcPts val="3354"/>
              </a:lnSpc>
            </a:pPr>
            <a:r>
              <a:rPr lang="en-US" sz="2396" spc="167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26 July, 2024 (online)</a:t>
            </a:r>
          </a:p>
          <a:p>
            <a:pPr algn="l">
              <a:lnSpc>
                <a:spcPts val="3354"/>
              </a:lnSpc>
            </a:pPr>
            <a:r>
              <a:rPr lang="en-US" sz="2396" u="sng" spc="167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  <a:hlinkClick r:id="rId2" tooltip="https://www.academia.edu/91551421/Waste_Sorting_Dustbin_with_Arduino_based_Smart_Motor_Rotating_Tray"/>
              </a:rPr>
              <a:t>https://www.academia.edu/91551421/Waste_Sorting_Dustbin_with_Arduino_based_Smart_Motor_Rotating_Tray</a:t>
            </a:r>
          </a:p>
          <a:p>
            <a:pPr algn="l">
              <a:lnSpc>
                <a:spcPts val="3354"/>
              </a:lnSpc>
            </a:pPr>
            <a:endParaRPr lang="en-US" sz="2396" u="sng" spc="167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  <a:hlinkClick r:id="rId2" tooltip="https://www.academia.edu/91551421/Waste_Sorting_Dustbin_with_Arduino_based_Smart_Motor_Rotating_Tray"/>
            </a:endParaRPr>
          </a:p>
          <a:p>
            <a:pPr algn="l">
              <a:lnSpc>
                <a:spcPts val="3354"/>
              </a:lnSpc>
            </a:pPr>
            <a:endParaRPr lang="en-US" sz="2396" u="sng" spc="167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  <a:hlinkClick r:id="rId2" tooltip="https://www.academia.edu/91551421/Waste_Sorting_Dustbin_with_Arduino_based_Smart_Motor_Rotating_Tray"/>
            </a:endParaRPr>
          </a:p>
          <a:p>
            <a:pPr algn="l">
              <a:lnSpc>
                <a:spcPts val="3354"/>
              </a:lnSpc>
            </a:pPr>
            <a:endParaRPr lang="en-US" sz="2396" u="sng" spc="167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  <a:hlinkClick r:id="rId2" tooltip="https://www.academia.edu/91551421/Waste_Sorting_Dustbin_with_Arduino_based_Smart_Motor_Rotating_Tray"/>
            </a:endParaRPr>
          </a:p>
          <a:p>
            <a:pPr algn="l">
              <a:lnSpc>
                <a:spcPts val="3354"/>
              </a:lnSpc>
            </a:pPr>
            <a:r>
              <a:rPr lang="en-US" sz="2396" spc="167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[2]Edge AI Audio Classifier Recycle Bin: Product Demo accessed on 24, July 2024 (online)</a:t>
            </a:r>
          </a:p>
          <a:p>
            <a:pPr algn="l">
              <a:lnSpc>
                <a:spcPts val="3354"/>
              </a:lnSpc>
            </a:pPr>
            <a:r>
              <a:rPr lang="en-US" sz="2396" u="sng" spc="167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</a:t>
            </a:r>
            <a:r>
              <a:rPr lang="en-US" sz="2396" u="sng" spc="167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  <a:hlinkClick r:id="rId3" tooltip="https://www.youtube.com/watch?v=roWY29RNFU0&amp;t=3s"/>
              </a:rPr>
              <a:t>ttps://www.youtube.com/watch?v=roWY29RNFU0&amp;t=3s</a:t>
            </a:r>
          </a:p>
          <a:p>
            <a:pPr algn="l">
              <a:lnSpc>
                <a:spcPts val="3354"/>
              </a:lnSpc>
            </a:pPr>
            <a:endParaRPr lang="en-US" sz="2396" u="sng" spc="167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  <a:hlinkClick r:id="rId3" tooltip="https://www.youtube.com/watch?v=roWY29RNFU0&amp;t=3s"/>
            </a:endParaRPr>
          </a:p>
          <a:p>
            <a:pPr algn="l">
              <a:lnSpc>
                <a:spcPts val="3354"/>
              </a:lnSpc>
              <a:spcBef>
                <a:spcPct val="0"/>
              </a:spcBef>
            </a:pPr>
            <a:endParaRPr lang="en-US" sz="2396" u="sng" spc="167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  <a:hlinkClick r:id="rId3" tooltip="https://www.youtube.com/watch?v=roWY29RNFU0&amp;t=3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206432" y="644640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028700" y="4264053"/>
            <a:ext cx="16408332" cy="2084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250"/>
              </a:lnSpc>
            </a:pPr>
            <a:r>
              <a:rPr lang="en-US" sz="16758" spc="8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842</Words>
  <Application>Microsoft Office PowerPoint</Application>
  <PresentationFormat>Custom</PresentationFormat>
  <Paragraphs>122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Playfair Display</vt:lpstr>
      <vt:lpstr>Public Sans</vt:lpstr>
      <vt:lpstr>Calibri</vt:lpstr>
      <vt:lpstr>Playfair Display Italics</vt:lpstr>
      <vt:lpstr>Public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 Presentation</dc:title>
  <dc:creator>Ishaan Mavinkurve</dc:creator>
  <cp:lastModifiedBy>Daryn Monteiro</cp:lastModifiedBy>
  <cp:revision>20</cp:revision>
  <dcterms:created xsi:type="dcterms:W3CDTF">2006-08-16T00:00:00Z</dcterms:created>
  <dcterms:modified xsi:type="dcterms:W3CDTF">2025-04-26T18:09:53Z</dcterms:modified>
  <dc:identifier>DAGMDe25Sgo</dc:identifier>
</cp:coreProperties>
</file>